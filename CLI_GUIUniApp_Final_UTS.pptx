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314"/>
            <a:ext cx="8229600" cy="971324"/>
          </a:xfrm>
        </p:spPr>
        <p:txBody>
          <a:bodyPr>
            <a:normAutofit fontScale="90000"/>
          </a:bodyPr>
          <a:lstStyle/>
          <a:p>
            <a:r>
              <a:rPr sz="4400" dirty="0" err="1">
                <a:latin typeface="Segoe UI Semibold"/>
              </a:rPr>
              <a:t>CLIUniApp</a:t>
            </a:r>
            <a:r>
              <a:rPr sz="4400" dirty="0">
                <a:latin typeface="Segoe UI Semibold"/>
              </a:rPr>
              <a:t> &amp; </a:t>
            </a:r>
            <a:r>
              <a:rPr sz="4400" dirty="0" err="1">
                <a:latin typeface="Segoe UI Semibold"/>
              </a:rPr>
              <a:t>GUIUniApp</a:t>
            </a:r>
            <a:r>
              <a:rPr sz="4400" dirty="0">
                <a:latin typeface="Segoe UI Semibold"/>
              </a:rPr>
              <a:t> (Python)</a:t>
            </a:r>
          </a:p>
        </p:txBody>
      </p:sp>
      <p:sp>
        <p:nvSpPr>
          <p:cNvPr id="3" name="Content Placeholder 2"/>
          <p:cNvSpPr>
            <a:spLocks noGrp="1"/>
          </p:cNvSpPr>
          <p:nvPr>
            <p:ph idx="1"/>
          </p:nvPr>
        </p:nvSpPr>
        <p:spPr>
          <a:xfrm>
            <a:off x="457200" y="1905000"/>
            <a:ext cx="8229600" cy="4221163"/>
          </a:xfrm>
        </p:spPr>
        <p:txBody>
          <a:bodyPr/>
          <a:lstStyle/>
          <a:p>
            <a:r>
              <a:rPr sz="2200" dirty="0">
                <a:latin typeface="Segoe UI"/>
              </a:rPr>
              <a:t>Islombek Sultonov </a:t>
            </a:r>
            <a:endParaRPr lang="en-US" sz="2200" dirty="0">
              <a:latin typeface="Segoe UI"/>
            </a:endParaRPr>
          </a:p>
          <a:p>
            <a:r>
              <a:rPr sz="2200" dirty="0">
                <a:latin typeface="Segoe UI"/>
              </a:rPr>
              <a:t>Student ID: 25506686 </a:t>
            </a:r>
            <a:endParaRPr lang="en-US" sz="2200" dirty="0">
              <a:latin typeface="Segoe UI"/>
            </a:endParaRPr>
          </a:p>
          <a:p>
            <a:r>
              <a:rPr sz="2200" dirty="0">
                <a:latin typeface="Segoe UI"/>
              </a:rPr>
              <a:t>Course: 32555 – Fundamentals of Software Development</a:t>
            </a:r>
            <a:endParaRPr lang="en-US" sz="2200" dirty="0">
              <a:latin typeface="Segoe UI"/>
            </a:endParaRPr>
          </a:p>
          <a:p>
            <a:pPr marL="0" indent="0">
              <a:buNone/>
            </a:pPr>
            <a:endParaRPr lang="en-US" sz="2200" dirty="0">
              <a:latin typeface="Segoe UI"/>
            </a:endParaRPr>
          </a:p>
          <a:p>
            <a:pPr marL="0" indent="0">
              <a:buNone/>
            </a:pPr>
            <a:endParaRPr sz="2200" dirty="0">
              <a:latin typeface="Segoe UI"/>
            </a:endParaRPr>
          </a:p>
          <a:p>
            <a:pPr marL="0" indent="0" algn="ctr">
              <a:buNone/>
            </a:pPr>
            <a:r>
              <a:rPr sz="3000" dirty="0"/>
              <a:t>A university application system with Admin and Student subsystems using Python CLI and </a:t>
            </a:r>
            <a:r>
              <a:rPr sz="3000" dirty="0" err="1"/>
              <a:t>Tkinter</a:t>
            </a:r>
            <a:r>
              <a:rPr sz="3000" dirty="0"/>
              <a:t> GUI</a:t>
            </a:r>
            <a:r>
              <a:rPr dirty="0"/>
              <a:t>.</a:t>
            </a:r>
          </a:p>
        </p:txBody>
      </p:sp>
      <p:sp>
        <p:nvSpPr>
          <p:cNvPr id="4" name="Rectangle 3"/>
          <p:cNvSpPr/>
          <p:nvPr/>
        </p:nvSpPr>
        <p:spPr>
          <a:xfrm>
            <a:off x="0" y="0"/>
            <a:ext cx="9144000" cy="44631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Design Approach (MVC)</a:t>
            </a:r>
          </a:p>
        </p:txBody>
      </p:sp>
      <p:sp>
        <p:nvSpPr>
          <p:cNvPr id="4" name="Rectangle 3"/>
          <p:cNvSpPr/>
          <p:nvPr/>
        </p:nvSpPr>
        <p:spPr>
          <a:xfrm>
            <a:off x="0" y="0"/>
            <a:ext cx="9144000" cy="434898"/>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371600"/>
            <a:ext cx="8229600" cy="2743200"/>
          </a:xfrm>
          <a:prstGeom prst="rect">
            <a:avLst/>
          </a:prstGeom>
          <a:solidFill>
            <a:srgbClr val="F5F5F5"/>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r>
              <a:rPr sz="1600">
                <a:solidFill>
                  <a:srgbClr val="C80000"/>
                </a:solidFill>
                <a:latin typeface="Consolas"/>
              </a:rPr>
              <a:t>Model: Student, Subject, Database</a:t>
            </a:r>
          </a:p>
          <a:p>
            <a:r>
              <a:rPr sz="1600">
                <a:solidFill>
                  <a:srgbClr val="C80000"/>
                </a:solidFill>
                <a:latin typeface="Consolas"/>
              </a:rPr>
              <a:t>Controller: CLI menus and functions</a:t>
            </a:r>
          </a:p>
          <a:p>
            <a:r>
              <a:rPr sz="1600">
                <a:solidFill>
                  <a:srgbClr val="C80000"/>
                </a:solidFill>
                <a:latin typeface="Consolas"/>
              </a:rPr>
              <a:t>View: CLI interface + Tkinter GUI</a:t>
            </a:r>
          </a:p>
        </p:txBody>
      </p:sp>
      <p:sp>
        <p:nvSpPr>
          <p:cNvPr id="6" name="TextBox 5"/>
          <p:cNvSpPr txBox="1"/>
          <p:nvPr/>
        </p:nvSpPr>
        <p:spPr>
          <a:xfrm>
            <a:off x="457200" y="4389120"/>
            <a:ext cx="8229600" cy="923330"/>
          </a:xfrm>
          <a:prstGeom prst="rect">
            <a:avLst/>
          </a:prstGeom>
          <a:noFill/>
        </p:spPr>
        <p:txBody>
          <a:bodyPr wrap="square">
            <a:spAutoFit/>
          </a:bodyPr>
          <a:lstStyle/>
          <a:p>
            <a:r>
              <a:rPr sz="1800">
                <a:solidFill>
                  <a:srgbClr val="1E1E1E"/>
                </a:solidFill>
                <a:latin typeface="Segoe UI"/>
              </a:rPr>
              <a:t>This architecture separates concerns. Each part of the code has a single responsibility — Models store data, Controllers handle logic, and Views manage user interaction. It makes the project scalable and maintainable.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Input Validation using Regex</a:t>
            </a:r>
          </a:p>
        </p:txBody>
      </p:sp>
      <p:sp>
        <p:nvSpPr>
          <p:cNvPr id="4" name="Rectangle 3"/>
          <p:cNvSpPr/>
          <p:nvPr/>
        </p:nvSpPr>
        <p:spPr>
          <a:xfrm>
            <a:off x="0" y="0"/>
            <a:ext cx="9144000" cy="46808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371600"/>
            <a:ext cx="8229600" cy="2743200"/>
          </a:xfrm>
          <a:prstGeom prst="rect">
            <a:avLst/>
          </a:prstGeom>
          <a:solidFill>
            <a:srgbClr val="F5F5F5"/>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r>
              <a:rPr sz="1600">
                <a:solidFill>
                  <a:srgbClr val="C80000"/>
                </a:solidFill>
                <a:latin typeface="Consolas"/>
              </a:rPr>
              <a:t>EMAIL_RE = re.compile(r'^[a-z]+(?:\.[a-z]+)*@university\.com$')</a:t>
            </a:r>
          </a:p>
          <a:p>
            <a:r>
              <a:rPr sz="1600">
                <a:solidFill>
                  <a:srgbClr val="C80000"/>
                </a:solidFill>
                <a:latin typeface="Consolas"/>
              </a:rPr>
              <a:t>PASS_RE = re.compile(r'^[A-Z][a-zA-Z]{4,}\d{3,}$')</a:t>
            </a:r>
          </a:p>
          <a:p>
            <a:r>
              <a:rPr sz="1600">
                <a:solidFill>
                  <a:srgbClr val="C80000"/>
                </a:solidFill>
                <a:latin typeface="Consolas"/>
              </a:rPr>
              <a:t>def valid_email(e): return bool(EMAIL_RE.match(e.strip()))</a:t>
            </a:r>
          </a:p>
          <a:p>
            <a:r>
              <a:rPr sz="1600">
                <a:solidFill>
                  <a:srgbClr val="C80000"/>
                </a:solidFill>
                <a:latin typeface="Consolas"/>
              </a:rPr>
              <a:t>def valid_password(p): return bool(PASS_RE.match(p.strip()))</a:t>
            </a:r>
          </a:p>
        </p:txBody>
      </p:sp>
      <p:sp>
        <p:nvSpPr>
          <p:cNvPr id="6" name="TextBox 5"/>
          <p:cNvSpPr txBox="1"/>
          <p:nvPr/>
        </p:nvSpPr>
        <p:spPr>
          <a:xfrm>
            <a:off x="457200" y="4389120"/>
            <a:ext cx="8229600" cy="1200329"/>
          </a:xfrm>
          <a:prstGeom prst="rect">
            <a:avLst/>
          </a:prstGeom>
          <a:noFill/>
        </p:spPr>
        <p:txBody>
          <a:bodyPr wrap="square">
            <a:spAutoFit/>
          </a:bodyPr>
          <a:lstStyle/>
          <a:p>
            <a:r>
              <a:rPr sz="1800" dirty="0">
                <a:solidFill>
                  <a:srgbClr val="1E1E1E"/>
                </a:solidFill>
                <a:latin typeface="Segoe UI"/>
              </a:rPr>
              <a:t>The code checks if the email follows the format 'firstname.lastname@university.com' and ensures the password starts with an uppercase letter, has at least five letters, and ends with three or more digits. It keeps the data valid and secure.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File Handling &amp; Persistence</a:t>
            </a:r>
          </a:p>
        </p:txBody>
      </p:sp>
      <p:sp>
        <p:nvSpPr>
          <p:cNvPr id="4" name="Rectangle 3"/>
          <p:cNvSpPr/>
          <p:nvPr/>
        </p:nvSpPr>
        <p:spPr>
          <a:xfrm>
            <a:off x="0" y="0"/>
            <a:ext cx="9144000" cy="423746"/>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371600"/>
            <a:ext cx="8229600" cy="2743200"/>
          </a:xfrm>
          <a:prstGeom prst="rect">
            <a:avLst/>
          </a:prstGeom>
          <a:solidFill>
            <a:srgbClr val="F5F5F5"/>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r>
              <a:rPr sz="1600">
                <a:solidFill>
                  <a:srgbClr val="C80000"/>
                </a:solidFill>
                <a:latin typeface="Consolas"/>
              </a:rPr>
              <a:t>class Database:</a:t>
            </a:r>
          </a:p>
          <a:p>
            <a:r>
              <a:rPr sz="1600">
                <a:solidFill>
                  <a:srgbClr val="C80000"/>
                </a:solidFill>
                <a:latin typeface="Consolas"/>
              </a:rPr>
              <a:t>    def __init__(self):</a:t>
            </a:r>
          </a:p>
          <a:p>
            <a:r>
              <a:rPr sz="1600">
                <a:solidFill>
                  <a:srgbClr val="C80000"/>
                </a:solidFill>
                <a:latin typeface="Consolas"/>
              </a:rPr>
              <a:t>        self.file = 'students.data'</a:t>
            </a:r>
          </a:p>
          <a:p>
            <a:r>
              <a:rPr sz="1600">
                <a:solidFill>
                  <a:srgbClr val="C80000"/>
                </a:solidFill>
                <a:latin typeface="Consolas"/>
              </a:rPr>
              <a:t>        if not os.path.exists(self.file):</a:t>
            </a:r>
          </a:p>
          <a:p>
            <a:r>
              <a:rPr sz="1600">
                <a:solidFill>
                  <a:srgbClr val="C80000"/>
                </a:solidFill>
                <a:latin typeface="Consolas"/>
              </a:rPr>
              <a:t>            with open(self.file, 'wb') as f: pickle.dump([], f)</a:t>
            </a:r>
          </a:p>
          <a:p>
            <a:endParaRPr sz="1600">
              <a:solidFill>
                <a:srgbClr val="C80000"/>
              </a:solidFill>
              <a:latin typeface="Consolas"/>
            </a:endParaRPr>
          </a:p>
          <a:p>
            <a:r>
              <a:rPr sz="1600">
                <a:solidFill>
                  <a:srgbClr val="C80000"/>
                </a:solidFill>
                <a:latin typeface="Consolas"/>
              </a:rPr>
              <a:t>    def read_all(self):</a:t>
            </a:r>
          </a:p>
          <a:p>
            <a:r>
              <a:rPr sz="1600">
                <a:solidFill>
                  <a:srgbClr val="C80000"/>
                </a:solidFill>
                <a:latin typeface="Consolas"/>
              </a:rPr>
              <a:t>        with open(self.file, 'rb') as f:</a:t>
            </a:r>
          </a:p>
          <a:p>
            <a:r>
              <a:rPr sz="1600">
                <a:solidFill>
                  <a:srgbClr val="C80000"/>
                </a:solidFill>
                <a:latin typeface="Consolas"/>
              </a:rPr>
              <a:t>            return pickle.load(f)</a:t>
            </a:r>
          </a:p>
        </p:txBody>
      </p:sp>
      <p:sp>
        <p:nvSpPr>
          <p:cNvPr id="6" name="TextBox 5"/>
          <p:cNvSpPr txBox="1"/>
          <p:nvPr/>
        </p:nvSpPr>
        <p:spPr>
          <a:xfrm>
            <a:off x="457200" y="4389120"/>
            <a:ext cx="8229600" cy="923330"/>
          </a:xfrm>
          <a:prstGeom prst="rect">
            <a:avLst/>
          </a:prstGeom>
          <a:noFill/>
        </p:spPr>
        <p:txBody>
          <a:bodyPr wrap="square">
            <a:spAutoFit/>
          </a:bodyPr>
          <a:lstStyle/>
          <a:p>
            <a:r>
              <a:rPr sz="1800">
                <a:solidFill>
                  <a:srgbClr val="1E1E1E"/>
                </a:solidFill>
                <a:latin typeface="Segoe UI"/>
              </a:rPr>
              <a:t>The Database class creates the 'students.data' file if it does not exist and safely reads stored student objects from it. This ensures data persistence even after the program is closed.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Unique IDs &amp; Enrolment Limit</a:t>
            </a:r>
          </a:p>
        </p:txBody>
      </p:sp>
      <p:sp>
        <p:nvSpPr>
          <p:cNvPr id="4" name="Rectangle 3"/>
          <p:cNvSpPr/>
          <p:nvPr/>
        </p:nvSpPr>
        <p:spPr>
          <a:xfrm>
            <a:off x="0" y="0"/>
            <a:ext cx="9144000" cy="49065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371600"/>
            <a:ext cx="8229600" cy="2743200"/>
          </a:xfrm>
          <a:prstGeom prst="rect">
            <a:avLst/>
          </a:prstGeom>
          <a:solidFill>
            <a:srgbClr val="F5F5F5"/>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r>
              <a:rPr sz="1600" dirty="0">
                <a:solidFill>
                  <a:srgbClr val="C80000"/>
                </a:solidFill>
                <a:latin typeface="Consolas"/>
              </a:rPr>
              <a:t>def </a:t>
            </a:r>
            <a:r>
              <a:rPr sz="1600" dirty="0" err="1">
                <a:solidFill>
                  <a:srgbClr val="C80000"/>
                </a:solidFill>
                <a:latin typeface="Consolas"/>
              </a:rPr>
              <a:t>generate_id</a:t>
            </a:r>
            <a:r>
              <a:rPr sz="1600" dirty="0">
                <a:solidFill>
                  <a:srgbClr val="C80000"/>
                </a:solidFill>
                <a:latin typeface="Consolas"/>
              </a:rPr>
              <a:t>(existing):</a:t>
            </a:r>
          </a:p>
          <a:p>
            <a:r>
              <a:rPr sz="1600" dirty="0">
                <a:solidFill>
                  <a:srgbClr val="C80000"/>
                </a:solidFill>
                <a:latin typeface="Consolas"/>
              </a:rPr>
              <a:t>    while True:</a:t>
            </a:r>
          </a:p>
          <a:p>
            <a:r>
              <a:rPr sz="1600" dirty="0">
                <a:solidFill>
                  <a:srgbClr val="C80000"/>
                </a:solidFill>
                <a:latin typeface="Consolas"/>
              </a:rPr>
              <a:t>        </a:t>
            </a:r>
            <a:r>
              <a:rPr sz="1600" dirty="0" err="1">
                <a:solidFill>
                  <a:srgbClr val="C80000"/>
                </a:solidFill>
                <a:latin typeface="Consolas"/>
              </a:rPr>
              <a:t>sid</a:t>
            </a:r>
            <a:r>
              <a:rPr sz="1600" dirty="0">
                <a:solidFill>
                  <a:srgbClr val="C80000"/>
                </a:solidFill>
                <a:latin typeface="Consolas"/>
              </a:rPr>
              <a:t> = f'{</a:t>
            </a:r>
            <a:r>
              <a:rPr sz="1600" dirty="0" err="1">
                <a:solidFill>
                  <a:srgbClr val="C80000"/>
                </a:solidFill>
                <a:latin typeface="Consolas"/>
              </a:rPr>
              <a:t>random.randint</a:t>
            </a:r>
            <a:r>
              <a:rPr sz="1600" dirty="0">
                <a:solidFill>
                  <a:srgbClr val="C80000"/>
                </a:solidFill>
                <a:latin typeface="Consolas"/>
              </a:rPr>
              <a:t>(1,999999):06d}'</a:t>
            </a:r>
          </a:p>
          <a:p>
            <a:r>
              <a:rPr sz="1600" dirty="0">
                <a:solidFill>
                  <a:srgbClr val="C80000"/>
                </a:solidFill>
                <a:latin typeface="Consolas"/>
              </a:rPr>
              <a:t>        if </a:t>
            </a:r>
            <a:r>
              <a:rPr sz="1600" dirty="0" err="1">
                <a:solidFill>
                  <a:srgbClr val="C80000"/>
                </a:solidFill>
                <a:latin typeface="Consolas"/>
              </a:rPr>
              <a:t>sid</a:t>
            </a:r>
            <a:r>
              <a:rPr sz="1600" dirty="0">
                <a:solidFill>
                  <a:srgbClr val="C80000"/>
                </a:solidFill>
                <a:latin typeface="Consolas"/>
              </a:rPr>
              <a:t> not in existing:</a:t>
            </a:r>
          </a:p>
          <a:p>
            <a:r>
              <a:rPr sz="1600" dirty="0">
                <a:solidFill>
                  <a:srgbClr val="C80000"/>
                </a:solidFill>
                <a:latin typeface="Consolas"/>
              </a:rPr>
              <a:t>            return </a:t>
            </a:r>
            <a:r>
              <a:rPr sz="1600" dirty="0" err="1">
                <a:solidFill>
                  <a:srgbClr val="C80000"/>
                </a:solidFill>
                <a:latin typeface="Consolas"/>
              </a:rPr>
              <a:t>sid</a:t>
            </a:r>
            <a:endParaRPr sz="1600" dirty="0">
              <a:solidFill>
                <a:srgbClr val="C80000"/>
              </a:solidFill>
              <a:latin typeface="Consolas"/>
            </a:endParaRPr>
          </a:p>
          <a:p>
            <a:endParaRPr sz="1600" dirty="0">
              <a:solidFill>
                <a:srgbClr val="C80000"/>
              </a:solidFill>
              <a:latin typeface="Consolas"/>
            </a:endParaRPr>
          </a:p>
          <a:p>
            <a:r>
              <a:rPr sz="1600" dirty="0">
                <a:solidFill>
                  <a:srgbClr val="C80000"/>
                </a:solidFill>
                <a:latin typeface="Consolas"/>
              </a:rPr>
              <a:t>def </a:t>
            </a:r>
            <a:r>
              <a:rPr sz="1600" dirty="0" err="1">
                <a:solidFill>
                  <a:srgbClr val="C80000"/>
                </a:solidFill>
                <a:latin typeface="Consolas"/>
              </a:rPr>
              <a:t>enrol</a:t>
            </a:r>
            <a:r>
              <a:rPr sz="1600" dirty="0">
                <a:solidFill>
                  <a:srgbClr val="C80000"/>
                </a:solidFill>
                <a:latin typeface="Consolas"/>
              </a:rPr>
              <a:t>(self, </a:t>
            </a:r>
            <a:r>
              <a:rPr sz="1600" dirty="0" err="1">
                <a:solidFill>
                  <a:srgbClr val="C80000"/>
                </a:solidFill>
                <a:latin typeface="Consolas"/>
              </a:rPr>
              <a:t>subject_id</a:t>
            </a:r>
            <a:r>
              <a:rPr sz="1600" dirty="0">
                <a:solidFill>
                  <a:srgbClr val="C80000"/>
                </a:solidFill>
                <a:latin typeface="Consolas"/>
              </a:rPr>
              <a:t>=None):</a:t>
            </a:r>
          </a:p>
          <a:p>
            <a:r>
              <a:rPr sz="1600" dirty="0">
                <a:solidFill>
                  <a:srgbClr val="C80000"/>
                </a:solidFill>
                <a:latin typeface="Consolas"/>
              </a:rPr>
              <a:t>    if </a:t>
            </a:r>
            <a:r>
              <a:rPr sz="1600" dirty="0" err="1">
                <a:solidFill>
                  <a:srgbClr val="C80000"/>
                </a:solidFill>
                <a:latin typeface="Consolas"/>
              </a:rPr>
              <a:t>len</a:t>
            </a:r>
            <a:r>
              <a:rPr sz="1600" dirty="0">
                <a:solidFill>
                  <a:srgbClr val="C80000"/>
                </a:solidFill>
                <a:latin typeface="Consolas"/>
              </a:rPr>
              <a:t>(</a:t>
            </a:r>
            <a:r>
              <a:rPr sz="1600" dirty="0" err="1">
                <a:solidFill>
                  <a:srgbClr val="C80000"/>
                </a:solidFill>
                <a:latin typeface="Consolas"/>
              </a:rPr>
              <a:t>self.subjects</a:t>
            </a:r>
            <a:r>
              <a:rPr sz="1600" dirty="0">
                <a:solidFill>
                  <a:srgbClr val="C80000"/>
                </a:solidFill>
                <a:latin typeface="Consolas"/>
              </a:rPr>
              <a:t>) &gt;= 4:</a:t>
            </a:r>
          </a:p>
          <a:p>
            <a:r>
              <a:rPr sz="1600" dirty="0">
                <a:solidFill>
                  <a:srgbClr val="C80000"/>
                </a:solidFill>
                <a:latin typeface="Consolas"/>
              </a:rPr>
              <a:t>        raise </a:t>
            </a:r>
            <a:r>
              <a:rPr sz="1600" dirty="0" err="1">
                <a:solidFill>
                  <a:srgbClr val="C80000"/>
                </a:solidFill>
                <a:latin typeface="Consolas"/>
              </a:rPr>
              <a:t>ValueError</a:t>
            </a:r>
            <a:r>
              <a:rPr sz="1600" dirty="0">
                <a:solidFill>
                  <a:srgbClr val="C80000"/>
                </a:solidFill>
                <a:latin typeface="Consolas"/>
              </a:rPr>
              <a:t>('Students can </a:t>
            </a:r>
            <a:r>
              <a:rPr sz="1600" dirty="0" err="1">
                <a:solidFill>
                  <a:srgbClr val="C80000"/>
                </a:solidFill>
                <a:latin typeface="Consolas"/>
              </a:rPr>
              <a:t>enrol</a:t>
            </a:r>
            <a:r>
              <a:rPr sz="1600" dirty="0">
                <a:solidFill>
                  <a:srgbClr val="C80000"/>
                </a:solidFill>
                <a:latin typeface="Consolas"/>
              </a:rPr>
              <a:t> in 4 subjects only')</a:t>
            </a:r>
          </a:p>
        </p:txBody>
      </p:sp>
      <p:sp>
        <p:nvSpPr>
          <p:cNvPr id="6" name="TextBox 5"/>
          <p:cNvSpPr txBox="1"/>
          <p:nvPr/>
        </p:nvSpPr>
        <p:spPr>
          <a:xfrm>
            <a:off x="457200" y="4389120"/>
            <a:ext cx="8229600" cy="923330"/>
          </a:xfrm>
          <a:prstGeom prst="rect">
            <a:avLst/>
          </a:prstGeom>
          <a:noFill/>
        </p:spPr>
        <p:txBody>
          <a:bodyPr wrap="square">
            <a:spAutoFit/>
          </a:bodyPr>
          <a:lstStyle/>
          <a:p>
            <a:r>
              <a:rPr sz="1800">
                <a:solidFill>
                  <a:srgbClr val="1E1E1E"/>
                </a:solidFill>
                <a:latin typeface="Segoe UI"/>
              </a:rPr>
              <a:t>IDs are randomly generated but guaranteed to be unique. Students can enrol in a maximum of four subjects, following the project requirements. This ensures the system prevents over-enrolment.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Grading System</a:t>
            </a:r>
          </a:p>
        </p:txBody>
      </p:sp>
      <p:sp>
        <p:nvSpPr>
          <p:cNvPr id="4" name="Rectangle 3"/>
          <p:cNvSpPr/>
          <p:nvPr/>
        </p:nvSpPr>
        <p:spPr>
          <a:xfrm>
            <a:off x="0" y="0"/>
            <a:ext cx="9144000" cy="401444"/>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371600"/>
            <a:ext cx="8463776" cy="2743200"/>
          </a:xfrm>
          <a:prstGeom prst="rect">
            <a:avLst/>
          </a:prstGeom>
          <a:solidFill>
            <a:srgbClr val="F5F5F5"/>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r>
              <a:rPr sz="1600">
                <a:solidFill>
                  <a:srgbClr val="C80000"/>
                </a:solidFill>
                <a:latin typeface="Consolas"/>
              </a:rPr>
              <a:t>def grade_from_mark(m):</a:t>
            </a:r>
          </a:p>
          <a:p>
            <a:r>
              <a:rPr sz="1600">
                <a:solidFill>
                  <a:srgbClr val="C80000"/>
                </a:solidFill>
                <a:latin typeface="Consolas"/>
              </a:rPr>
              <a:t>    if m &gt;= 85: return 'HD'</a:t>
            </a:r>
          </a:p>
          <a:p>
            <a:r>
              <a:rPr sz="1600">
                <a:solidFill>
                  <a:srgbClr val="C80000"/>
                </a:solidFill>
                <a:latin typeface="Consolas"/>
              </a:rPr>
              <a:t>    elif m &gt;= 75: return 'D'</a:t>
            </a:r>
          </a:p>
          <a:p>
            <a:r>
              <a:rPr sz="1600">
                <a:solidFill>
                  <a:srgbClr val="C80000"/>
                </a:solidFill>
                <a:latin typeface="Consolas"/>
              </a:rPr>
              <a:t>    elif m &gt;= 65: return 'C'</a:t>
            </a:r>
          </a:p>
          <a:p>
            <a:r>
              <a:rPr sz="1600">
                <a:solidFill>
                  <a:srgbClr val="C80000"/>
                </a:solidFill>
                <a:latin typeface="Consolas"/>
              </a:rPr>
              <a:t>    elif m &gt;= 50: return 'P'</a:t>
            </a:r>
          </a:p>
          <a:p>
            <a:r>
              <a:rPr sz="1600">
                <a:solidFill>
                  <a:srgbClr val="C80000"/>
                </a:solidFill>
                <a:latin typeface="Consolas"/>
              </a:rPr>
              <a:t>    else: return 'F'</a:t>
            </a:r>
          </a:p>
        </p:txBody>
      </p:sp>
      <p:sp>
        <p:nvSpPr>
          <p:cNvPr id="6" name="TextBox 5"/>
          <p:cNvSpPr txBox="1"/>
          <p:nvPr/>
        </p:nvSpPr>
        <p:spPr>
          <a:xfrm>
            <a:off x="457200" y="4389120"/>
            <a:ext cx="8463776" cy="923330"/>
          </a:xfrm>
          <a:prstGeom prst="rect">
            <a:avLst/>
          </a:prstGeom>
          <a:noFill/>
        </p:spPr>
        <p:txBody>
          <a:bodyPr wrap="square">
            <a:spAutoFit/>
          </a:bodyPr>
          <a:lstStyle/>
          <a:p>
            <a:r>
              <a:rPr sz="1800">
                <a:solidFill>
                  <a:srgbClr val="1E1E1E"/>
                </a:solidFill>
                <a:latin typeface="Segoe UI"/>
              </a:rPr>
              <a:t>Each subject mark is between 25 and 100, assigned randomly. Grades are calculated based on marks following the UTS grading scale. The Admin can group students by grades or partition them as PASS/FAIL.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Error Handling</a:t>
            </a:r>
          </a:p>
        </p:txBody>
      </p:sp>
      <p:sp>
        <p:nvSpPr>
          <p:cNvPr id="4" name="Rectangle 3"/>
          <p:cNvSpPr/>
          <p:nvPr/>
        </p:nvSpPr>
        <p:spPr>
          <a:xfrm>
            <a:off x="0" y="-1"/>
            <a:ext cx="9144000" cy="468351"/>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371600"/>
            <a:ext cx="8385717" cy="2743200"/>
          </a:xfrm>
          <a:prstGeom prst="rect">
            <a:avLst/>
          </a:prstGeom>
          <a:solidFill>
            <a:srgbClr val="F5F5F5"/>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r>
              <a:rPr sz="1600">
                <a:solidFill>
                  <a:srgbClr val="C80000"/>
                </a:solidFill>
                <a:latin typeface="Consolas"/>
              </a:rPr>
              <a:t>try:</a:t>
            </a:r>
          </a:p>
          <a:p>
            <a:r>
              <a:rPr sz="1600">
                <a:solidFill>
                  <a:srgbClr val="C80000"/>
                </a:solidFill>
                <a:latin typeface="Consolas"/>
              </a:rPr>
              <a:t>    subject = self.enrol()</a:t>
            </a:r>
          </a:p>
          <a:p>
            <a:r>
              <a:rPr sz="1600">
                <a:solidFill>
                  <a:srgbClr val="C80000"/>
                </a:solidFill>
                <a:latin typeface="Consolas"/>
              </a:rPr>
              <a:t>except ValueError as e:</a:t>
            </a:r>
          </a:p>
          <a:p>
            <a:r>
              <a:rPr sz="1600">
                <a:solidFill>
                  <a:srgbClr val="C80000"/>
                </a:solidFill>
                <a:latin typeface="Consolas"/>
              </a:rPr>
              <a:t>    print(str(e))</a:t>
            </a:r>
          </a:p>
          <a:p>
            <a:endParaRPr sz="1600">
              <a:solidFill>
                <a:srgbClr val="C80000"/>
              </a:solidFill>
              <a:latin typeface="Consolas"/>
            </a:endParaRPr>
          </a:p>
          <a:p>
            <a:r>
              <a:rPr sz="1600">
                <a:solidFill>
                  <a:srgbClr val="C80000"/>
                </a:solidFill>
                <a:latin typeface="Consolas"/>
              </a:rPr>
              <a:t>if password1 != password2:</a:t>
            </a:r>
          </a:p>
          <a:p>
            <a:r>
              <a:rPr sz="1600">
                <a:solidFill>
                  <a:srgbClr val="C80000"/>
                </a:solidFill>
                <a:latin typeface="Consolas"/>
              </a:rPr>
              <a:t>    print('Passwords do not match - try again')</a:t>
            </a:r>
          </a:p>
        </p:txBody>
      </p:sp>
      <p:sp>
        <p:nvSpPr>
          <p:cNvPr id="6" name="TextBox 5"/>
          <p:cNvSpPr txBox="1"/>
          <p:nvPr/>
        </p:nvSpPr>
        <p:spPr>
          <a:xfrm>
            <a:off x="457200" y="4389120"/>
            <a:ext cx="8385717" cy="923330"/>
          </a:xfrm>
          <a:prstGeom prst="rect">
            <a:avLst/>
          </a:prstGeom>
          <a:noFill/>
        </p:spPr>
        <p:txBody>
          <a:bodyPr wrap="square">
            <a:spAutoFit/>
          </a:bodyPr>
          <a:lstStyle/>
          <a:p>
            <a:r>
              <a:rPr sz="1800" dirty="0">
                <a:solidFill>
                  <a:srgbClr val="1E1E1E"/>
                </a:solidFill>
                <a:latin typeface="Segoe UI"/>
              </a:rPr>
              <a:t>Errors are handled gracefully to ensure that the system does not crash. User-friendly messages guide students to fix mistakes such as invalid passwords or enrolment limits.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GUIUniApp (Tkinter) Example</a:t>
            </a:r>
          </a:p>
        </p:txBody>
      </p:sp>
      <p:sp>
        <p:nvSpPr>
          <p:cNvPr id="4" name="Rectangle 3"/>
          <p:cNvSpPr/>
          <p:nvPr/>
        </p:nvSpPr>
        <p:spPr>
          <a:xfrm>
            <a:off x="0" y="0"/>
            <a:ext cx="9144000" cy="446314"/>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371600"/>
            <a:ext cx="8229600" cy="2743200"/>
          </a:xfrm>
          <a:prstGeom prst="rect">
            <a:avLst/>
          </a:prstGeom>
          <a:solidFill>
            <a:srgbClr val="F5F5F5"/>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r>
              <a:rPr sz="1600">
                <a:solidFill>
                  <a:srgbClr val="C80000"/>
                </a:solidFill>
                <a:latin typeface="Consolas"/>
              </a:rPr>
              <a:t>if len(self.student.subjects) &gt;= 4:</a:t>
            </a:r>
          </a:p>
          <a:p>
            <a:r>
              <a:rPr sz="1600">
                <a:solidFill>
                  <a:srgbClr val="C80000"/>
                </a:solidFill>
                <a:latin typeface="Consolas"/>
              </a:rPr>
              <a:t>    messagebox.showwarning('Limit', 'You can only enrol in 4 subjects')</a:t>
            </a:r>
          </a:p>
          <a:p>
            <a:r>
              <a:rPr sz="1600">
                <a:solidFill>
                  <a:srgbClr val="C80000"/>
                </a:solidFill>
                <a:latin typeface="Consolas"/>
              </a:rPr>
              <a:t>student = self.db.find_student(email)</a:t>
            </a:r>
          </a:p>
          <a:p>
            <a:r>
              <a:rPr sz="1600">
                <a:solidFill>
                  <a:srgbClr val="C80000"/>
                </a:solidFill>
                <a:latin typeface="Consolas"/>
              </a:rPr>
              <a:t>if not student or student.password != pw:</a:t>
            </a:r>
          </a:p>
          <a:p>
            <a:r>
              <a:rPr sz="1600">
                <a:solidFill>
                  <a:srgbClr val="C80000"/>
                </a:solidFill>
                <a:latin typeface="Consolas"/>
              </a:rPr>
              <a:t>    messagebox.showerror('Error', 'Invalid email or password')</a:t>
            </a:r>
          </a:p>
        </p:txBody>
      </p:sp>
      <p:sp>
        <p:nvSpPr>
          <p:cNvPr id="6" name="TextBox 5"/>
          <p:cNvSpPr txBox="1"/>
          <p:nvPr/>
        </p:nvSpPr>
        <p:spPr>
          <a:xfrm>
            <a:off x="457200" y="4389120"/>
            <a:ext cx="8229600" cy="923330"/>
          </a:xfrm>
          <a:prstGeom prst="rect">
            <a:avLst/>
          </a:prstGeom>
          <a:noFill/>
        </p:spPr>
        <p:txBody>
          <a:bodyPr wrap="square">
            <a:spAutoFit/>
          </a:bodyPr>
          <a:lstStyle/>
          <a:p>
            <a:r>
              <a:rPr sz="1800" dirty="0" err="1">
                <a:solidFill>
                  <a:srgbClr val="1E1E1E"/>
                </a:solidFill>
                <a:latin typeface="Segoe UI"/>
              </a:rPr>
              <a:t>GUIUniApp</a:t>
            </a:r>
            <a:r>
              <a:rPr sz="1800" dirty="0">
                <a:solidFill>
                  <a:srgbClr val="1E1E1E"/>
                </a:solidFill>
                <a:latin typeface="Segoe UI"/>
              </a:rPr>
              <a:t> uses </a:t>
            </a:r>
            <a:r>
              <a:rPr sz="1800" dirty="0" err="1">
                <a:solidFill>
                  <a:srgbClr val="1E1E1E"/>
                </a:solidFill>
                <a:latin typeface="Segoe UI"/>
              </a:rPr>
              <a:t>Tkinter</a:t>
            </a:r>
            <a:r>
              <a:rPr sz="1800" dirty="0">
                <a:solidFill>
                  <a:srgbClr val="1E1E1E"/>
                </a:solidFill>
                <a:latin typeface="Segoe UI"/>
              </a:rPr>
              <a:t> for the interface. It connects to the same backend file as the CLI version. Popup messages provide visual feedback for invalid logins and subject limit violations.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31370"/>
            <a:ext cx="8229600" cy="786267"/>
          </a:xfrm>
        </p:spPr>
        <p:txBody>
          <a:bodyPr/>
          <a:lstStyle/>
          <a:p>
            <a:r>
              <a:rPr dirty="0"/>
              <a:t>Reflection &amp; Learning</a:t>
            </a:r>
          </a:p>
        </p:txBody>
      </p:sp>
      <p:sp>
        <p:nvSpPr>
          <p:cNvPr id="4" name="Rectangle 3"/>
          <p:cNvSpPr/>
          <p:nvPr/>
        </p:nvSpPr>
        <p:spPr>
          <a:xfrm>
            <a:off x="0" y="-1"/>
            <a:ext cx="9144000" cy="555171"/>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2516777"/>
            <a:ext cx="8474927" cy="923330"/>
          </a:xfrm>
          <a:prstGeom prst="rect">
            <a:avLst/>
          </a:prstGeom>
          <a:noFill/>
        </p:spPr>
        <p:txBody>
          <a:bodyPr wrap="square">
            <a:spAutoFit/>
          </a:bodyPr>
          <a:lstStyle/>
          <a:p>
            <a:r>
              <a:rPr sz="1800" dirty="0">
                <a:solidFill>
                  <a:srgbClr val="1E1E1E"/>
                </a:solidFill>
                <a:latin typeface="Segoe UI"/>
              </a:rPr>
              <a:t>I worked individually on this project. Although the CLI part is complete,. Through this project, I learned how to apply MVC structure, perform regex validation, handle files safely, and design a simple GUI with </a:t>
            </a:r>
            <a:r>
              <a:rPr sz="1800" dirty="0" err="1">
                <a:solidFill>
                  <a:srgbClr val="1E1E1E"/>
                </a:solidFill>
                <a:latin typeface="Segoe UI"/>
              </a:rPr>
              <a:t>Tkinter</a:t>
            </a:r>
            <a:r>
              <a:rPr sz="1800" dirty="0">
                <a:solidFill>
                  <a:srgbClr val="1E1E1E"/>
                </a:solidFill>
                <a:latin typeface="Segoe UI"/>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08176"/>
            <a:ext cx="8229600" cy="818924"/>
          </a:xfrm>
        </p:spPr>
        <p:txBody>
          <a:bodyPr/>
          <a:lstStyle/>
          <a:p>
            <a:r>
              <a:rPr dirty="0"/>
              <a:t>Thank You!</a:t>
            </a:r>
          </a:p>
        </p:txBody>
      </p:sp>
      <p:sp>
        <p:nvSpPr>
          <p:cNvPr id="4" name="Rectangle 3"/>
          <p:cNvSpPr/>
          <p:nvPr/>
        </p:nvSpPr>
        <p:spPr>
          <a:xfrm>
            <a:off x="0" y="-32657"/>
            <a:ext cx="9144000" cy="424543"/>
          </a:xfrm>
          <a:prstGeom prst="rect">
            <a:avLst/>
          </a:prstGeom>
          <a:solidFill>
            <a:srgbClr val="FF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21428" y="2797629"/>
            <a:ext cx="5486400" cy="914400"/>
          </a:xfrm>
          <a:prstGeom prst="rect">
            <a:avLst/>
          </a:prstGeom>
          <a:noFill/>
        </p:spPr>
        <p:txBody>
          <a:bodyPr wrap="none">
            <a:spAutoFit/>
          </a:bodyPr>
          <a:lstStyle/>
          <a:p>
            <a:r>
              <a:rPr sz="2800" dirty="0">
                <a:solidFill>
                  <a:srgbClr val="003366"/>
                </a:solidFill>
                <a:latin typeface="Segoe UI Semibold"/>
              </a:rPr>
              <a:t>Questions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TotalTime>
  <Words>762</Words>
  <Application>Microsoft Office PowerPoint</Application>
  <PresentationFormat>On-screen Show (4:3)</PresentationFormat>
  <Paragraphs>68</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Consolas</vt:lpstr>
      <vt:lpstr>Segoe UI</vt:lpstr>
      <vt:lpstr>Segoe UI Semibold</vt:lpstr>
      <vt:lpstr>Office Theme</vt:lpstr>
      <vt:lpstr>CLIUniApp &amp; GUIUniApp (Python)</vt:lpstr>
      <vt:lpstr>Design Approach (MVC)</vt:lpstr>
      <vt:lpstr>Input Validation using Regex</vt:lpstr>
      <vt:lpstr>File Handling &amp; Persistence</vt:lpstr>
      <vt:lpstr>Unique IDs &amp; Enrolment Limit</vt:lpstr>
      <vt:lpstr>Grading System</vt:lpstr>
      <vt:lpstr>Error Handling</vt:lpstr>
      <vt:lpstr>GUIUniApp (Tkinter) Example</vt:lpstr>
      <vt:lpstr>Reflection &amp; Learning</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Dostonbek Rustamov</dc:creator>
  <cp:keywords/>
  <dc:description>generated using python-pptx</dc:description>
  <cp:lastModifiedBy>Islombek Abdumutalib Ugli Sultonov</cp:lastModifiedBy>
  <cp:revision>4</cp:revision>
  <dcterms:created xsi:type="dcterms:W3CDTF">2013-01-27T09:14:16Z</dcterms:created>
  <dcterms:modified xsi:type="dcterms:W3CDTF">2025-11-04T06:04:49Z</dcterms:modified>
  <cp:category/>
</cp:coreProperties>
</file>